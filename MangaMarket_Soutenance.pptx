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560320"/>
            <a:ext cx="6858000" cy="6858000"/>
          </a:xfrm>
          <a:prstGeom prst="ellipse">
            <a:avLst/>
          </a:prstGeom>
          <a:solidFill>
            <a:srgbClr val="C0392B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base de données</a:t>
            </a:r>
            <a:endParaRPr lang="en-US" sz="3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interface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boutique de mangas en ligne : comment le projet est rangé, ce que la base contient, comment l'administration l'écrit, et ce qui rend les pages vivantes.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522031" cy="310896"/>
          </a:xfrm>
          <a:prstGeom prst="roundRect">
            <a:avLst>
              <a:gd name="adj" fmla="val 50000"/>
            </a:avLst>
          </a:prstGeom>
          <a:solidFill>
            <a:srgbClr val="2A2F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343400"/>
            <a:ext cx="5220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90127" y="4343400"/>
            <a:ext cx="522031" cy="310896"/>
          </a:xfrm>
          <a:prstGeom prst="roundRect">
            <a:avLst>
              <a:gd name="adj" fmla="val 50000"/>
            </a:avLst>
          </a:prstGeom>
          <a:solidFill>
            <a:srgbClr val="2A2F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0127" y="4343400"/>
            <a:ext cx="5220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40174" y="4343400"/>
            <a:ext cx="687172" cy="310896"/>
          </a:xfrm>
          <a:prstGeom prst="roundRect">
            <a:avLst>
              <a:gd name="adj" fmla="val 50000"/>
            </a:avLst>
          </a:prstGeom>
          <a:solidFill>
            <a:srgbClr val="2A2F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940174" y="4343400"/>
            <a:ext cx="6871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55362" y="4343400"/>
            <a:ext cx="1100023" cy="310896"/>
          </a:xfrm>
          <a:prstGeom prst="roundRect">
            <a:avLst>
              <a:gd name="adj" fmla="val 50000"/>
            </a:avLst>
          </a:prstGeom>
          <a:solidFill>
            <a:srgbClr val="2A2F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55362" y="4343400"/>
            <a:ext cx="11000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83401" y="4343400"/>
            <a:ext cx="934883" cy="310896"/>
          </a:xfrm>
          <a:prstGeom prst="roundRect">
            <a:avLst>
              <a:gd name="adj" fmla="val 50000"/>
            </a:avLst>
          </a:prstGeom>
          <a:solidFill>
            <a:srgbClr val="2A2F5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83401" y="4343400"/>
            <a:ext cx="93488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Mattheo Bils — Dossier professionnel CDA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1234440"/>
            <a:ext cx="4937760" cy="3246120"/>
          </a:xfrm>
          <a:prstGeom prst="roundRect">
            <a:avLst>
              <a:gd name="adj" fmla="val 2535"/>
            </a:avLst>
          </a:prstGeom>
          <a:solidFill>
            <a:srgbClr val="1B1F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1234440"/>
            <a:ext cx="493776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1389888"/>
            <a:ext cx="493776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867144" y="134416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0" y="134416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14616" y="134416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0" y="12344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catalogue.php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1691640"/>
            <a:ext cx="442569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catalogue.php?categories[]=shonen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$catsActives = ['shonen']; $prixMax = 10.0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$where[] =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"c.slug IN (:cat0)"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$pdo-&gt;prepare($sql)-&gt;execute($params)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produits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rendu HTML direct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709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capture de ce diaporama est un extrait réel du dépôt du projet.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816852"/>
            <a:ext cx="507987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site dont on parle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catalogue de mangas vendus tome par tome, avec panier, commande, compte client et back-office administrateur.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85800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685800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75688"/>
            <a:ext cx="685800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202996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02996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202996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9202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mangamarket.fr / index.php</a:t>
            </a:r>
            <a:endParaRPr lang="en-US" sz="1050" dirty="0"/>
          </a:p>
        </p:txBody>
      </p:sp>
      <p:pic>
        <p:nvPicPr>
          <p:cNvPr id="12" name="Image 0" descr="/home/claude/pptx_build2/img/mockup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2377440"/>
            <a:ext cx="6345936" cy="359359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8096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PAGE, PLUSIEURS RÔLES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331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L'accueil affiche un produit vedette et une sélection « tendances » tirée aléatoirement en base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header gère trois états : invité, client connecté, administrateur — chacun avec son propre menu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statique : catégories, prix et stock viennent tous de MySQL à chaque chargement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816852"/>
            <a:ext cx="1015975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MangaMarket en chiffres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ordres de grandeur du projet, mesurés sur le dépôt.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30552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MySQL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98064" y="196596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98064" y="2130552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28346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étrangères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47488" y="196596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47488" y="2130552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28346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PHP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96912" y="196596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96912" y="2130552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388352" y="28346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JSON internes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46336" y="196596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B1F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46336" y="2130552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5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637776" y="28346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mangas / catégories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TECHNIQUE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595445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343400"/>
            <a:ext cx="159544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(procédural)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72101" y="4343400"/>
            <a:ext cx="522031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272101" y="4343400"/>
            <a:ext cx="5220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2148" y="4343400"/>
            <a:ext cx="1512875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922148" y="4343400"/>
            <a:ext cx="15128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63039" y="4343400"/>
            <a:ext cx="1595445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63039" y="4343400"/>
            <a:ext cx="159544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natif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500" y="4343400"/>
            <a:ext cx="1017453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86500" y="4343400"/>
            <a:ext cx="101745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31969" y="4343400"/>
            <a:ext cx="1265164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31969" y="4343400"/>
            <a:ext cx="12651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PHP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25149" y="4343400"/>
            <a:ext cx="1265164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825149" y="4343400"/>
            <a:ext cx="12651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166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BEAE7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5166360"/>
            <a:ext cx="54864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5276088"/>
            <a:ext cx="10378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framework front ou back : choix assumé pour démontrer la maîtrise des fondamentaux exigés par le référentiel du titre CDA.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816852"/>
            <a:ext cx="1523962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plan de la soutenance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L'architecture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203704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projet et trajet d'une requête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9748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788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front-end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118104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Maquettage, intégration HTML/CSS, JavaScript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61188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back-end &amp; les données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4032504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données, accès aux données, transactions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2628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4617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démonstration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946904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de sécurité et parcours utilisateur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44068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5532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5861304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mobilisées, difficultés, conclusion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816852"/>
            <a:ext cx="2031949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-3200400"/>
            <a:ext cx="8229600" cy="822960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L'architecture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projet est rangé, et par où passe une requête de bout en bout.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76272" y="41605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6272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 d'une requête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6816852"/>
            <a:ext cx="2539937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 · L'ARCHITECTURE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arborescence en quatre rôles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Vues, API, fichiers partagés et assets : chaque dossier a une responsabilité unique.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9224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29968"/>
            <a:ext cx="649224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9842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98424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87452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mangamarket/ — racine du dépôt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331720"/>
            <a:ext cx="5980176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mangamarket/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index.php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→ accueil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views/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→ 10 pages client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catalogue.php · produit.php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panier.php · achat.php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admin/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→ 5 pages back-office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→ 3 endpoints JSON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panier · produits · search_api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includes/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→ 5 fichiers partagés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db · header · footer · auth_*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asset/css/ · asset/js/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10 + 10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mangamarket.sql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→ 7 tables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CETTE SÉPARATION GARANTIT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4028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includes/db.php est le seul point de connexion PDO : toutes les pages le réutilisent, aucune n'ouvre sa propre connexion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ne rend jamais de HTML : uniquement du JSON, consommé en Fetch par le front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views/admin/ est protégée par auth_admin.php, inclus en première ligne de chaque page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 · L'ARCHITECTURE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16852"/>
            <a:ext cx="3047924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 · L'ARCHITECTURE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trajet d'une requête, en une image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catalogue.php?categories[]=shonen&amp;prix_max=10 : chaque étape, jusqu'au rendu final.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385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Le navigateur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8541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clic sur le filtre « Shonen » soumet le formulaire GET vers catalogue.php avec les paramètres choisis.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07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7977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PHP démarre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2666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catalogue.php lit $_GET['categories'] et $_GET['prix_max'] avant tout affichage.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48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210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Validation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791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slugs sont filtrés par expression régulière, le prix est borné entre 0 et 15.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40080" y="4489704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489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622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Construction du SQL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7091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$where est assemblé dynamiquement selon les filtres réellement actifs.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9385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PDO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18541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 préparée est exécutée avec des paramètres nommés — jamais de valeur concaténée.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309360" y="280720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2807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77977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MySQL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02666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joint produits et categories, applique le filtre, retourne les lignes.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309360" y="3648456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648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6210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Mise en forme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86791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devient une carte produit HTML, avec badge de stock calculé à la volée.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309360" y="4489704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4489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44622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Le navigateur affiche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47091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entièrement côté serveur : la page complète arrive déjà prête, sans rechargement JS.</a:t>
            </a:r>
            <a:endParaRPr lang="en-US" sz="108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 · L'ARCHITECTURE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816852"/>
            <a:ext cx="3555911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-3200400"/>
            <a:ext cx="8229600" cy="822960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front-end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Maquetter, intégrer, puis rendre l'interface vivante avec JavaScript.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3392" y="41605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93392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41605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816852"/>
            <a:ext cx="4063898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 · EXEMPLE N°1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Maquetter les interfaces utilisateur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parcours-types dessinés avant la première ligne de code.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9224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29968"/>
            <a:ext cx="649224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9842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98424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87452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figma.com / mangamarket — accueil</a:t>
            </a:r>
            <a:endParaRPr lang="en-US" sz="1050" dirty="0"/>
          </a:p>
        </p:txBody>
      </p:sp>
      <p:pic>
        <p:nvPicPr>
          <p:cNvPr id="12" name="Image 0" descr="/home/claude/pptx_build2/img/mockup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2331720"/>
            <a:ext cx="5980176" cy="359359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MAQUETTÉ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224028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catalogue, fiche produit, panier, tunnel de commande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/ inscription, profil client, back-office admin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réutilisables : cartes produit, badges de stock, formulaires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complet du catalogue jusqu'à la confirmation de commande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0" y="4663440"/>
            <a:ext cx="667512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4663440"/>
            <a:ext cx="667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10728" y="4663440"/>
            <a:ext cx="982066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10728" y="4663440"/>
            <a:ext cx="9820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220810" y="4663440"/>
            <a:ext cx="667512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20810" y="4663440"/>
            <a:ext cx="667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 · LE FRONT-END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6816852"/>
            <a:ext cx="4571886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 · EXEMPLE N°2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Réaliser les interfaces statiques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HTML depuis les maquettes, mise en forme CSS avec variables centralisées.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9224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29968"/>
            <a:ext cx="649224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9842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98424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87452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asset/css/catalogue.css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331720"/>
            <a:ext cx="5980176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Sidebar de filtres, grille produits */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.filtre { 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top: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90px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var(--navy-light)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.fullcard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repeat(auto-fill, minmax(210px,1fr));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900px)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.filtre { width: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position: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PRODUIT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4028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centralisées (couleurs, rayons, ombres) pour une charte cohérente sur 10 feuilles de style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responsive qui s'adapte de 1 à 5 colonnes sans media query par carte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fixe avec effet de flou (backdrop-filter), animations d'apparition en @keyframes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rupture mobile / tablette / desktop sur l'ensemble du site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 · LE FRONT-END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16852"/>
            <a:ext cx="5079873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 · EXEMPLE N°3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Développer la partie dynamique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instantanée, panier synchronisé, carrousel — sans framework.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9224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29968"/>
            <a:ext cx="649224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9842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98424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87452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asset/js/search.js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331720"/>
            <a:ext cx="5980176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rechercher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clearTimeout(debounceTimer);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(q.trim().length &lt; 2) { fermer(); return;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debounceTimer = setTimeout(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 =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fetch(`${apiBase}?q=${q}`);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res.json();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afficherResultats(data, q.trim());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4D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anti-rebond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DYNAMIQUE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4028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en autocomplétion : debounce 200 ms, surlignage du terme, navigation au clavier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synchronisé entre BDD et localStorage, avec fusion automatique à la connexion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quantité du panier mis à jour en temps réel après chaque action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de catégories (auto-play, swipe tactile) et menu burger mobile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 · LE FRONT-END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16852"/>
            <a:ext cx="5587860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-3200400"/>
            <a:ext cx="8229600" cy="822960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back-end &amp; les données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relationnelle, l'accès aux données, et la logique métier qui protège le stock.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33472" y="41605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étrangères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35424" y="41605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424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0256" y="4160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0256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816852"/>
            <a:ext cx="6095848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EXEMPLE N°1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tables, une responsabilité chacune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 la base relationnelle mangamarket.sql.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 des genres de mangas (5 lignes de départ)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produits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enregistrement par tome : titre, auteur, prix, stock,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utilisateurs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clients / admin — mot de passe haché (bcrypt)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En-tête de commande : livraison, total, 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commande_lignes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 des articles d'une commande, prix figé à l'achat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panier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Panier persistant des clients connectés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messages_contact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du formulaire de 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BACK-END &amp; DONNÉES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816852"/>
            <a:ext cx="6603835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EXEMPLE N°1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six clés étrangères, et leur comportement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chaque contrainte produit concrètement au moment d'une suppression.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463040"/>
                <a:gridCol w="5760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concret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de supprimer une catégorie qui contient des produits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supprimé → la commande reste, devenue anonyme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commande_lignes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 supprimée → ses lignes disparaissent avec 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commande_lignes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de supprimer un produit déjà commandé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panier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supprimé → son panier est vidé automatiquement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panier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 supprimé → il disparaît des paniers en cours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BACK-END &amp; DONNÉES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816852"/>
            <a:ext cx="7111822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EXEMPLE N°2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Développer les composants d'accès aux données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JSON interne, consommée en Fetch par le panier et la recherche.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9224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29968"/>
            <a:ext cx="649224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9842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98424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87452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api/panier.php — case 'add'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331720"/>
            <a:ext cx="5980176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$stock =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$stockStmt-&gt;fetchColumn();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($stock &lt;= 0) {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json_encode([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'rupture'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($qtyPanier + $quantite &gt; $stock) {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json_encode([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'stock_insuffisant'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$pdo-&gt;prepare(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 ON DUPLICATE KEY UPDATE</a:t>
            </a:r>
            <a:endParaRPr lang="en-US" sz="1080" dirty="0"/>
          </a:p>
          <a:p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quantite = LEAST(quantite + VALUES(quantite), stock)"</a:t>
            </a:r>
            <a:endParaRPr lang="en-US" sz="1080" dirty="0"/>
          </a:p>
          <a:p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APPLIQUÉS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4028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 PDO sur l'ensemble des accès — aucune valeur n'est jamais concaténée dans le SQL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LEAST() empêche la quantité en panier de dépasser le stock, même en cas d'appels concurrents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JSON uniformes : { connected, success, error? } — le front n'a qu'un seul contrat à gérer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 internes : panier, produits, recherche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BACK-END &amp; DONNÉES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16852"/>
            <a:ext cx="7619810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EXEMPLE N°3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Développer les composants métier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tunnel de commande : une transaction SQL qui ne laisse aucune place à l'incohérence.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92240" cy="4160520"/>
          </a:xfrm>
          <a:prstGeom prst="roundRect">
            <a:avLst>
              <a:gd name="adj" fmla="val 1978"/>
            </a:avLst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1518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29968"/>
            <a:ext cx="6492240" cy="155448"/>
          </a:xfrm>
          <a:prstGeom prst="rect">
            <a:avLst/>
          </a:prstGeom>
          <a:solidFill>
            <a:srgbClr val="15182E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9842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984248"/>
            <a:ext cx="91440" cy="91440"/>
          </a:xfrm>
          <a:prstGeom prst="ellipse">
            <a:avLst/>
          </a:prstGeom>
          <a:solidFill>
            <a:srgbClr val="1FA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87452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views/achat.php — validation de commande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331720"/>
            <a:ext cx="5980176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$pdo-&gt;beginTransaction();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prix, stock FROM produits</a:t>
            </a:r>
            <a:endParaRPr lang="en-US" sz="1080" dirty="0"/>
          </a:p>
          <a:p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id = ? FOR UPDATE"</a:t>
            </a:r>
            <a:endParaRPr lang="en-US" sz="1080" dirty="0"/>
          </a:p>
          <a:p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F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(!$prod || $prod['stock'] &lt;= 0) {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$pdo-&gt;rollBack();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7B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aucune trace laissée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$pdo-&gt;prepare(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commandes ..."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)-&gt;execute(...);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$pdo-&gt;prepare(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produits SET stock = stock - 1 ..."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$pdo-&gt;commit();</a:t>
            </a:r>
            <a:endParaRPr lang="en-US" sz="10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54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28000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GARANTIT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4028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bcrypt (password_hash / password_verify), sessions PHP contrôlées par rôle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auth_client.php / auth_admin.php réutilisés en première ligne des pages protégées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séquence commande + lignes + décrément de stock réussit ensemble, ou échoue ensemble</a:t>
            </a:r>
            <a:endParaRPr lang="en-US" sz="1100" dirty="0"/>
          </a:p>
          <a:p>
            <a:pPr marL="203200" indent="-2032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d'erreur, rollBack() annule tout : jamais de commande à moitié enregistrée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BACK-END &amp; DONNÉES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16852"/>
            <a:ext cx="8127797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ZOOM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UPDATE : deux clients, le dernier exemplaire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scénario joué deux fois. Stock initial : 1 exemplaire. Deux clients valident au même instant.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1920240"/>
                <a:gridCol w="3017520"/>
                <a:gridCol w="3749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FOR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FOR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 1, verrouille la ligne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 1 aussi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 la fin de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&gt; 0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passé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passé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stock-1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&gt; 0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passé aussi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 attente)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stock-1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=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=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ventes, un livre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verrou levé, B relit stock = 0 → ROLLBACK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BEAE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349240"/>
            <a:ext cx="54864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458968"/>
            <a:ext cx="105613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verrou, deux clients peuvent tous deux valider le dernier exemplaire : c'est exactement le scénario que FOR UPDATE empêche dans achat.php.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BACK-END &amp; DONNÉES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6816852"/>
            <a:ext cx="8635784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-3200400"/>
            <a:ext cx="8229600" cy="822960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démonstration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mesures mises en place, et le parcours complet d'un achat.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10512" y="41605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10512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6816852"/>
            <a:ext cx="9143771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 · SÉCURITÉ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mesures, six risques couverts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mesure répond à un risque précis, pas à une checklist générique.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 appliquée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Injection SQL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Requêtes préparées PDO sur l'intégralité des accès à la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Faille XSS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htmlspecialchars() systématique sur toute sortie HTML générée depuis la BDD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 de passe compromis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Hachage bcrypt (password_hash / password_verify), jamais de clair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Accès non autorisé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 de session + rôle avant chaque page profil /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Survente en cas de concurrence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Verrouillage FOR UPDATE + transaction avant décrément du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Données invalides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serveur systématique sur tous les formulaires (contact, compte, commande)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 · SÉCURITÉ &amp; DÉMO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816852"/>
            <a:ext cx="9651759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 · DÉMONSTRATION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d'achat, de l'accueil à la commande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615440" cy="1554480"/>
          </a:xfrm>
          <a:prstGeom prst="roundRect">
            <a:avLst>
              <a:gd name="adj" fmla="val 5882"/>
            </a:avLst>
          </a:prstGeom>
          <a:solidFill>
            <a:srgbClr val="1B1F3B"/>
          </a:solidFill>
          <a:ln/>
        </p:spPr>
      </p:sp>
      <p:sp>
        <p:nvSpPr>
          <p:cNvPr id="5" name="Shape 3"/>
          <p:cNvSpPr/>
          <p:nvPr/>
        </p:nvSpPr>
        <p:spPr>
          <a:xfrm>
            <a:off x="1136904" y="2194560"/>
            <a:ext cx="438912" cy="438912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6904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70048"/>
            <a:ext cx="152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35808"/>
            <a:ext cx="152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index.php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82368" y="3145536"/>
            <a:ext cx="237744" cy="201168"/>
          </a:xfrm>
          <a:prstGeom prst="rightArrow">
            <a:avLst/>
          </a:prstGeom>
          <a:solidFill>
            <a:srgbClr val="E2E1EC"/>
          </a:solidFill>
          <a:ln/>
        </p:spPr>
      </p:sp>
      <p:sp>
        <p:nvSpPr>
          <p:cNvPr id="10" name="Shape 8"/>
          <p:cNvSpPr/>
          <p:nvPr/>
        </p:nvSpPr>
        <p:spPr>
          <a:xfrm>
            <a:off x="2438400" y="2468880"/>
            <a:ext cx="1615440" cy="1554480"/>
          </a:xfrm>
          <a:prstGeom prst="roundRect">
            <a:avLst>
              <a:gd name="adj" fmla="val 5882"/>
            </a:avLst>
          </a:prstGeom>
          <a:solidFill>
            <a:srgbClr val="1B1F3B"/>
          </a:solidFill>
          <a:ln/>
        </p:spPr>
      </p:sp>
      <p:sp>
        <p:nvSpPr>
          <p:cNvPr id="11" name="Shape 9"/>
          <p:cNvSpPr/>
          <p:nvPr/>
        </p:nvSpPr>
        <p:spPr>
          <a:xfrm>
            <a:off x="3026664" y="2194560"/>
            <a:ext cx="438912" cy="438912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26664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484120" y="2670048"/>
            <a:ext cx="152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84120" y="3035808"/>
            <a:ext cx="152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catalogue.php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72128" y="3145536"/>
            <a:ext cx="237744" cy="201168"/>
          </a:xfrm>
          <a:prstGeom prst="rightArrow">
            <a:avLst/>
          </a:prstGeom>
          <a:solidFill>
            <a:srgbClr val="E2E1EC"/>
          </a:solidFill>
          <a:ln/>
        </p:spPr>
      </p:sp>
      <p:sp>
        <p:nvSpPr>
          <p:cNvPr id="16" name="Shape 14"/>
          <p:cNvSpPr/>
          <p:nvPr/>
        </p:nvSpPr>
        <p:spPr>
          <a:xfrm>
            <a:off x="4328160" y="2468880"/>
            <a:ext cx="1615440" cy="1554480"/>
          </a:xfrm>
          <a:prstGeom prst="roundRect">
            <a:avLst>
              <a:gd name="adj" fmla="val 5882"/>
            </a:avLst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16424" y="2194560"/>
            <a:ext cx="438912" cy="438912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16424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73880" y="2670048"/>
            <a:ext cx="152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73880" y="3035808"/>
            <a:ext cx="152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produit.php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61888" y="3145536"/>
            <a:ext cx="237744" cy="201168"/>
          </a:xfrm>
          <a:prstGeom prst="rightArrow">
            <a:avLst/>
          </a:prstGeom>
          <a:solidFill>
            <a:srgbClr val="E2E1EC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2468880"/>
            <a:ext cx="1615440" cy="1554480"/>
          </a:xfrm>
          <a:prstGeom prst="roundRect">
            <a:avLst>
              <a:gd name="adj" fmla="val 5882"/>
            </a:avLst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6806184" y="2194560"/>
            <a:ext cx="438912" cy="438912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06184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670048"/>
            <a:ext cx="152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035808"/>
            <a:ext cx="152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api/panier.php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51648" y="3145536"/>
            <a:ext cx="237744" cy="201168"/>
          </a:xfrm>
          <a:prstGeom prst="rightArrow">
            <a:avLst/>
          </a:prstGeom>
          <a:solidFill>
            <a:srgbClr val="E2E1EC"/>
          </a:solidFill>
          <a:ln/>
        </p:spPr>
      </p:sp>
      <p:sp>
        <p:nvSpPr>
          <p:cNvPr id="28" name="Shape 26"/>
          <p:cNvSpPr/>
          <p:nvPr/>
        </p:nvSpPr>
        <p:spPr>
          <a:xfrm>
            <a:off x="8107680" y="2468880"/>
            <a:ext cx="1615440" cy="1554480"/>
          </a:xfrm>
          <a:prstGeom prst="roundRect">
            <a:avLst>
              <a:gd name="adj" fmla="val 5882"/>
            </a:avLst>
          </a:prstGeom>
          <a:solidFill>
            <a:srgbClr val="1B1F3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95944" y="2194560"/>
            <a:ext cx="438912" cy="438912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95944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53400" y="2670048"/>
            <a:ext cx="152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153400" y="3035808"/>
            <a:ext cx="152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A9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achat.php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741408" y="3145536"/>
            <a:ext cx="237744" cy="201168"/>
          </a:xfrm>
          <a:prstGeom prst="rightArrow">
            <a:avLst/>
          </a:prstGeom>
          <a:solidFill>
            <a:srgbClr val="E2E1EC"/>
          </a:solidFill>
          <a:ln/>
        </p:spPr>
      </p:sp>
      <p:sp>
        <p:nvSpPr>
          <p:cNvPr id="34" name="Shape 32"/>
          <p:cNvSpPr/>
          <p:nvPr/>
        </p:nvSpPr>
        <p:spPr>
          <a:xfrm>
            <a:off x="9997440" y="2468880"/>
            <a:ext cx="1615440" cy="1554480"/>
          </a:xfrm>
          <a:prstGeom prst="roundRect">
            <a:avLst>
              <a:gd name="adj" fmla="val 5882"/>
            </a:avLst>
          </a:prstGeom>
          <a:solidFill>
            <a:srgbClr val="C039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85704" y="2194560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585704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043160" y="2670048"/>
            <a:ext cx="152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043160" y="3035808"/>
            <a:ext cx="152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confirmeachat.php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flèche correspond à une vérification serveur (stock, session, validité des données) — impossible de commander une rupture.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 · SÉCURITÉ &amp; DÉMO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816852"/>
            <a:ext cx="10159746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-3200400"/>
            <a:ext cx="8229600" cy="822960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mobilisées, difficultés rencontrées, et perspectives.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84832" y="41605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84832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21024" y="4160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816852"/>
            <a:ext cx="10667733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 · 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mobilisées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activités-types du titre CDA, illustrées par le projet.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5943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Activité-type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Compétence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Illustration dans MangaMarket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Front-end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Maquetter des interfaces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Maquettes Figma de toutes les pages du 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Front-end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Réaliser des interfaces statiques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HTML/CSS responsive, charte à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Front-end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Développer la partie dynamique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Recherche, panier et carrousel en JavaScript natif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Back-end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Mettre en place une BDD relationnelle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tables, 6 clés étrangères, contraintes d'intégrité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Back-end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Développer l'accès aux données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interne en PHP / PDO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Back-end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Développer les composants métier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Authentification, transactions, back-office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 · BILAN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816852"/>
            <a:ext cx="11175721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 · 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&amp; solutions apportées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118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 entre les tomes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80944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même manga pouvait être saisi avec des variantes de titre ou de catégorie selon le tome.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4114800"/>
            <a:ext cx="3099816" cy="0"/>
          </a:xfrm>
          <a:prstGeom prst="line">
            <a:avLst/>
          </a:prstGeom>
          <a:noFill/>
          <a:ln w="12700">
            <a:solidFill>
              <a:srgbClr val="E2E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4224528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462272"/>
            <a:ext cx="30998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automatique du titre / auteur / catégorie sur la fiche existante lors de l'ajout d'un nouveau tome.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87452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874520"/>
            <a:ext cx="36118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3712" y="20848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Panier invité vs connecté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743200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980944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panier devait fonctionner sans compte, puis retrouver son contenu après connexion.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53712" y="4114800"/>
            <a:ext cx="3099816" cy="0"/>
          </a:xfrm>
          <a:prstGeom prst="line">
            <a:avLst/>
          </a:prstGeom>
          <a:noFill/>
          <a:ln w="12700">
            <a:solidFill>
              <a:srgbClr val="E2E1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4224528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4462272"/>
            <a:ext cx="30998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localStorage pour les invités, fusion automatique et silencieuse vers la BDD à la connexion.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87452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874520"/>
            <a:ext cx="36118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2752" y="20848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Concurrence sur le stock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302752" y="2743200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302752" y="2980944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clients pouvaient valider le dernier exemplaire au même instant.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4114800"/>
            <a:ext cx="3099816" cy="0"/>
          </a:xfrm>
          <a:prstGeom prst="line">
            <a:avLst/>
          </a:prstGeom>
          <a:noFill/>
          <a:ln w="12700">
            <a:solidFill>
              <a:srgbClr val="E2E1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02752" y="4224528"/>
            <a:ext cx="3099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4462272"/>
            <a:ext cx="30998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SQL avec verrouillage FOR UPDATE avant toute décrémentation (voir Bloc C).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809848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 · BILAN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2E1EC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816852"/>
            <a:ext cx="11683708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C0392B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sur un point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particulier 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base de données, back-office ou front-end : chaque partie de ce diaporama s'appuie sur du code réellement écrit pour MangaMarket.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Mattheo Bils — Dossier professionnel CDA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MANGAMARKET — SOUTENANCE CDA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911535" y="6492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2026-08-27T07:45:45Z</dcterms:created>
  <dcterms:modified xsi:type="dcterms:W3CDTF">2026-08-27T07:45:45Z</dcterms:modified>
</cp:coreProperties>
</file>